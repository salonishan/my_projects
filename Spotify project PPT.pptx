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oni shandilya" userId="60a3c8c89a0330d0" providerId="LiveId" clId="{3595912C-005C-466E-8364-DBE41D2F0CFD}"/>
    <pc:docChg chg="delSld modSld">
      <pc:chgData name="saloni shandilya" userId="60a3c8c89a0330d0" providerId="LiveId" clId="{3595912C-005C-466E-8364-DBE41D2F0CFD}" dt="2026-04-16T09:42:18.911" v="2" actId="2696"/>
      <pc:docMkLst>
        <pc:docMk/>
      </pc:docMkLst>
      <pc:sldChg chg="del">
        <pc:chgData name="saloni shandilya" userId="60a3c8c89a0330d0" providerId="LiveId" clId="{3595912C-005C-466E-8364-DBE41D2F0CFD}" dt="2026-04-16T09:42:07.665" v="0" actId="2696"/>
        <pc:sldMkLst>
          <pc:docMk/>
          <pc:sldMk cId="4043737824" sldId="257"/>
        </pc:sldMkLst>
      </pc:sldChg>
      <pc:sldChg chg="modSp">
        <pc:chgData name="saloni shandilya" userId="60a3c8c89a0330d0" providerId="LiveId" clId="{3595912C-005C-466E-8364-DBE41D2F0CFD}" dt="2026-04-16T09:42:13.193" v="1" actId="20577"/>
        <pc:sldMkLst>
          <pc:docMk/>
          <pc:sldMk cId="191714609" sldId="258"/>
        </pc:sldMkLst>
        <pc:spChg chg="mod">
          <ac:chgData name="saloni shandilya" userId="60a3c8c89a0330d0" providerId="LiveId" clId="{3595912C-005C-466E-8364-DBE41D2F0CFD}" dt="2026-04-16T09:42:13.193" v="1" actId="20577"/>
          <ac:spMkLst>
            <pc:docMk/>
            <pc:sldMk cId="191714609" sldId="258"/>
            <ac:spMk id="2" creationId="{9AB2EA78-AEB3-469B-9025-3B17201A457B}"/>
          </ac:spMkLst>
        </pc:spChg>
      </pc:sldChg>
      <pc:sldChg chg="del">
        <pc:chgData name="saloni shandilya" userId="60a3c8c89a0330d0" providerId="LiveId" clId="{3595912C-005C-466E-8364-DBE41D2F0CFD}" dt="2026-04-16T09:42:18.911" v="2" actId="2696"/>
        <pc:sldMkLst>
          <pc:docMk/>
          <pc:sldMk cId="2849481983" sldId="259"/>
        </pc:sldMkLst>
      </pc:sldChg>
    </pc:docChg>
  </pc:docChgLst>
  <pc:docChgLst>
    <pc:chgData name="saloni shandilya" userId="60a3c8c89a0330d0" providerId="LiveId" clId="{B0903661-72E3-4B2F-9922-2BB1FFE1C536}"/>
    <pc:docChg chg="modSld">
      <pc:chgData name="saloni shandilya" userId="60a3c8c89a0330d0" providerId="LiveId" clId="{B0903661-72E3-4B2F-9922-2BB1FFE1C536}" dt="2023-12-22T14:52:48.906" v="0"/>
      <pc:docMkLst>
        <pc:docMk/>
      </pc:docMkLst>
      <pc:sldChg chg="modAnim">
        <pc:chgData name="saloni shandilya" userId="60a3c8c89a0330d0" providerId="LiveId" clId="{B0903661-72E3-4B2F-9922-2BB1FFE1C536}" dt="2023-12-22T14:52:48.906" v="0"/>
        <pc:sldMkLst>
          <pc:docMk/>
          <pc:sldMk cId="4043737824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matrix-code-computer-pc-data-356024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animated-character-3006975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465" y="254689"/>
            <a:ext cx="10823986" cy="4480791"/>
          </a:xfrm>
        </p:spPr>
        <p:txBody>
          <a:bodyPr anchor="ctr">
            <a:normAutofit fontScale="90000"/>
          </a:bodyPr>
          <a:lstStyle/>
          <a:p>
            <a:pPr lvl="0"/>
            <a:br>
              <a:rPr lang="en-US" sz="4800" i="1" dirty="0">
                <a:solidFill>
                  <a:srgbClr val="FFFFFF"/>
                </a:solidFill>
              </a:rPr>
            </a:br>
            <a:r>
              <a:rPr lang="en-US" sz="4800" i="1" dirty="0">
                <a:solidFill>
                  <a:srgbClr val="FFFFFF"/>
                </a:solidFill>
              </a:rPr>
              <a:t>               </a:t>
            </a:r>
            <a:r>
              <a:rPr lang="en-US" sz="5300" i="1" dirty="0"/>
              <a:t>“ Analysis on </a:t>
            </a:r>
            <a:r>
              <a:rPr lang="en-US" sz="5300" i="1" dirty="0" err="1"/>
              <a:t>spotify</a:t>
            </a:r>
            <a:r>
              <a:rPr lang="en-US" sz="5300" i="1" dirty="0"/>
              <a:t> most streamed songs of 2023 using statistical tools through software”.</a:t>
            </a:r>
            <a:br>
              <a:rPr lang="en-US" sz="5300" i="1" dirty="0"/>
            </a:br>
            <a:br>
              <a:rPr lang="en-US" sz="5300" i="1" dirty="0"/>
            </a:br>
            <a:br>
              <a:rPr lang="en-US" sz="4800" i="1" dirty="0">
                <a:solidFill>
                  <a:srgbClr val="FFFFFF"/>
                </a:solidFill>
              </a:rPr>
            </a:br>
            <a:endParaRPr lang="en-US" sz="4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Well, everyone wants to know what they played, right!!</a:t>
            </a:r>
          </a:p>
          <a:p>
            <a:r>
              <a:rPr lang="en-US" dirty="0">
                <a:solidFill>
                  <a:srgbClr val="FFFFFF"/>
                </a:solidFill>
              </a:rPr>
              <a:t>- I mean statistical data guys!!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48F16A-B247-5B84-C9D3-BDA65BBC5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"/>
            <a:ext cx="12296305" cy="6768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A6EEE-CA58-ABB2-9191-CB191D777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FFFF00"/>
                </a:solidFill>
              </a:rPr>
              <a:t>About the data:- This dataset contains a comprehensive list of most famous songs of 2023 as listed on </a:t>
            </a:r>
            <a:r>
              <a:rPr lang="en-IN" sz="4000" dirty="0" err="1">
                <a:solidFill>
                  <a:srgbClr val="FFFF00"/>
                </a:solidFill>
              </a:rPr>
              <a:t>spotify</a:t>
            </a:r>
            <a:r>
              <a:rPr lang="en-IN" sz="4000" dirty="0">
                <a:solidFill>
                  <a:srgbClr val="FFFF00"/>
                </a:solidFill>
              </a:rPr>
              <a:t>. Featuring </a:t>
            </a:r>
            <a:r>
              <a:rPr lang="en-IN" sz="4000" dirty="0" err="1">
                <a:solidFill>
                  <a:srgbClr val="FFFF00"/>
                </a:solidFill>
              </a:rPr>
              <a:t>track_name,artists_name,released_year,streams,bpm</a:t>
            </a:r>
            <a:r>
              <a:rPr lang="en-IN" sz="4000" dirty="0">
                <a:solidFill>
                  <a:srgbClr val="FFFF00"/>
                </a:solidFill>
              </a:rPr>
              <a:t> and so on.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2B3A3-713B-3CA4-EA14-4434B1550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solidFill>
                  <a:srgbClr val="FFFF00"/>
                </a:solidFill>
              </a:rPr>
              <a:t>Mainly focused features are the percentage of </a:t>
            </a:r>
            <a:r>
              <a:rPr lang="en-IN" dirty="0" err="1">
                <a:solidFill>
                  <a:srgbClr val="FFFF00"/>
                </a:solidFill>
              </a:rPr>
              <a:t>danceability,valence,energy,acousticness,intrumentalness</a:t>
            </a:r>
            <a:r>
              <a:rPr lang="en-IN" dirty="0">
                <a:solidFill>
                  <a:srgbClr val="FFFF00"/>
                </a:solidFill>
              </a:rPr>
              <a:t>,</a:t>
            </a:r>
          </a:p>
          <a:p>
            <a:r>
              <a:rPr lang="en-IN" dirty="0">
                <a:solidFill>
                  <a:srgbClr val="FFFF00"/>
                </a:solidFill>
              </a:rPr>
              <a:t>Liveness and </a:t>
            </a:r>
            <a:r>
              <a:rPr lang="en-IN" dirty="0" err="1">
                <a:solidFill>
                  <a:srgbClr val="FFFF00"/>
                </a:solidFill>
              </a:rPr>
              <a:t>speechiness</a:t>
            </a:r>
            <a:r>
              <a:rPr lang="en-IN" dirty="0">
                <a:solidFill>
                  <a:srgbClr val="FFFF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7937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08F0F-BCE8-AE50-B464-1C3F65E15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76" y="242047"/>
            <a:ext cx="11048104" cy="4083065"/>
          </a:xfrm>
        </p:spPr>
        <p:txBody>
          <a:bodyPr>
            <a:normAutofit fontScale="90000"/>
          </a:bodyPr>
          <a:lstStyle/>
          <a:p>
            <a:br>
              <a:rPr lang="en-IN" sz="2000" dirty="0"/>
            </a:br>
            <a:br>
              <a:rPr lang="en-IN" sz="2000" dirty="0"/>
            </a:br>
            <a:r>
              <a:rPr lang="en-IN" sz="2000" b="1" dirty="0"/>
              <a:t>Here is the actual data </a:t>
            </a:r>
            <a:r>
              <a:rPr lang="en-IN" sz="2000" b="1" dirty="0" err="1"/>
              <a:t>feeded</a:t>
            </a:r>
            <a:r>
              <a:rPr lang="en-IN" sz="2000" b="1" dirty="0"/>
              <a:t> on the excel sheet:-</a:t>
            </a: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43F3B-3956-E911-4838-946EA15E7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393"/>
            <a:ext cx="12192000" cy="464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6E378-6839-2DC8-F900-645A17B7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5506"/>
            <a:ext cx="11155680" cy="4199606"/>
          </a:xfrm>
        </p:spPr>
        <p:txBody>
          <a:bodyPr>
            <a:normAutofit/>
          </a:bodyPr>
          <a:lstStyle/>
          <a:p>
            <a:r>
              <a:rPr lang="en-IN" sz="3600" b="1" dirty="0"/>
              <a:t>Charts:- </a:t>
            </a:r>
            <a:r>
              <a:rPr lang="en-IN" sz="3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Created bar charts for feature to show their distribution. This helps to understand the range and variability of the feature.</a:t>
            </a:r>
            <a:br>
              <a:rPr lang="en-IN" sz="3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IN" sz="3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IN" sz="3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IN" sz="3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IN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IN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9EA32-130A-6820-4969-7001F48CB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" y="2268127"/>
            <a:ext cx="10748683" cy="419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8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599E87-0BCC-68B7-F0CD-14338BAC5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9" y="187429"/>
            <a:ext cx="6336993" cy="3650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542365-6CD9-02A0-CF7D-C157B6B25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488" y="3675542"/>
            <a:ext cx="5957123" cy="299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7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8892-1860-7AF4-62AD-98AF206C9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Tool 1:- Multiple regression using 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DBC72-61DA-7737-4393-23701A91D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48" y="1886036"/>
            <a:ext cx="9038103" cy="444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B884D5-B895-0D7E-B26B-291530A4CF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This is the code used to calculate multiple regression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C51C0-454E-CBF6-9D66-C43169BD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013"/>
            <a:ext cx="11080376" cy="409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3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29EE-D1D2-DF88-4B39-22B005C66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507"/>
            <a:ext cx="11155680" cy="1611854"/>
          </a:xfrm>
        </p:spPr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OUTPUT:-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B0825-849E-4877-BDD7-3D03D2930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26" y="1369399"/>
            <a:ext cx="7818415" cy="4663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E5D552-168A-B1A7-5B0B-676BDCA024B4}"/>
              </a:ext>
            </a:extLst>
          </p:cNvPr>
          <p:cNvSpPr txBox="1"/>
          <p:nvPr/>
        </p:nvSpPr>
        <p:spPr>
          <a:xfrm>
            <a:off x="8264267" y="2043952"/>
            <a:ext cx="3461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Here the model suggests that there is some relationship between the independent variables and the dependent variables i.e. danceability_%.</a:t>
            </a:r>
          </a:p>
        </p:txBody>
      </p:sp>
    </p:spTree>
    <p:extLst>
      <p:ext uri="{BB962C8B-B14F-4D97-AF65-F5344CB8AC3E}">
        <p14:creationId xmlns:p14="http://schemas.microsoft.com/office/powerpoint/2010/main" val="3302925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5DD0-CA90-3FDD-48DA-153911453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2400"/>
            <a:ext cx="11155680" cy="4172712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002060"/>
                </a:solidFill>
              </a:rPr>
              <a:t>Tool 2:- Correlation using python:-</a:t>
            </a:r>
            <a:br>
              <a:rPr lang="en-IN" sz="4400" b="1" dirty="0">
                <a:solidFill>
                  <a:srgbClr val="002060"/>
                </a:solidFill>
              </a:rPr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0814C-259D-B59C-839C-EDBADB1B1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5" y="1123072"/>
            <a:ext cx="6393734" cy="4755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DD793-3B52-FE6C-B24C-56AF57736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383" y="1255833"/>
            <a:ext cx="5173071" cy="448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0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F72A-88BD-E742-CF13-7737A5FDE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" y="0"/>
            <a:ext cx="11074998" cy="1737361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Output:-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1BF1B-0B3F-9ECD-6E27-2C9612C16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66" y="763989"/>
            <a:ext cx="7106470" cy="24498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6E348B-CEE1-6ACB-EBDA-4AE3AE62DE39}"/>
              </a:ext>
            </a:extLst>
          </p:cNvPr>
          <p:cNvSpPr txBox="1"/>
          <p:nvPr/>
        </p:nvSpPr>
        <p:spPr>
          <a:xfrm>
            <a:off x="717176" y="3343835"/>
            <a:ext cx="80682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Hence, There is a moderate positive correlation between danceability_% and valence_% also increase in danceability_% is associated with an increase in valence_%</a:t>
            </a:r>
          </a:p>
        </p:txBody>
      </p:sp>
    </p:spTree>
    <p:extLst>
      <p:ext uri="{BB962C8B-B14F-4D97-AF65-F5344CB8AC3E}">
        <p14:creationId xmlns:p14="http://schemas.microsoft.com/office/powerpoint/2010/main" val="973450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3043-42B5-CD28-56FA-B07C27255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" y="1"/>
            <a:ext cx="11030174" cy="173736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Tool 3:- z-test two sample for means using excel:-</a:t>
            </a:r>
            <a:br>
              <a:rPr lang="en-IN" b="1" dirty="0">
                <a:solidFill>
                  <a:srgbClr val="002060"/>
                </a:solidFill>
              </a:rPr>
            </a:b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7FC96-1218-E2C1-1494-B13A101A603E}"/>
              </a:ext>
            </a:extLst>
          </p:cNvPr>
          <p:cNvSpPr txBox="1"/>
          <p:nvPr/>
        </p:nvSpPr>
        <p:spPr>
          <a:xfrm>
            <a:off x="735107" y="2500436"/>
            <a:ext cx="9744634" cy="4024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Setting the hypothesis:-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1. null hypothesis(H0):- There is no difference between the streams of single and multiple artists.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2. Alternative hypothesis(H1):- There is a difference between the streams of single and multiple artists.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197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CF95-7438-DDAB-C0B2-24B8361C7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365"/>
            <a:ext cx="11155680" cy="189872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OUTPUT:-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C06E0-4AC7-EB63-F703-1332751F2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83" y="890995"/>
            <a:ext cx="6461064" cy="37796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C8DC9B-82F5-C4EA-59B8-27A51564CAD3}"/>
              </a:ext>
            </a:extLst>
          </p:cNvPr>
          <p:cNvSpPr txBox="1"/>
          <p:nvPr/>
        </p:nvSpPr>
        <p:spPr>
          <a:xfrm>
            <a:off x="6893858" y="1120588"/>
            <a:ext cx="4870076" cy="529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calculated z-statistic is 3.885779951, and both the one-tailed and two-tailed p-values are very small (close to zero).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Since the calculated z-statistic is greater than the critical values for both one-tailed and two-tailed tests, you would likely reject the null hypothesis.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This suggests that there is a significant difference between the means of Variable 1 and Variable 2.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That means there is a significant difference between streams of the single and multiple artists.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Also mean of the streams of single artists are more as compare to the mean of the streams of multiple artists.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614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EDB59D-9A1A-1191-FE28-538C0CDDE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2059" y="-143435"/>
            <a:ext cx="3907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5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Urban monochrome</Template>
  <TotalTime>82</TotalTime>
  <Words>407</Words>
  <Application>Microsoft Office PowerPoint</Application>
  <PresentationFormat>Widescreen</PresentationFormat>
  <Paragraphs>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Calibri</vt:lpstr>
      <vt:lpstr>Franklin Gothic Book</vt:lpstr>
      <vt:lpstr>Symbol</vt:lpstr>
      <vt:lpstr>Custom</vt:lpstr>
      <vt:lpstr>                “ Analysis on spotify most streamed songs of 2023 using statistical tools through software”.   </vt:lpstr>
      <vt:lpstr>About the data:- This dataset contains a comprehensive list of most famous songs of 2023 as listed on spotify. Featuring track_name,artists_name,released_year,streams,bpm and so on.</vt:lpstr>
      <vt:lpstr>  Here is the actual data feeded on the excel sheet:-               </vt:lpstr>
      <vt:lpstr>Charts:- Created bar charts for feature to show their distribution. This helps to understand the range and variability of the feature.     </vt:lpstr>
      <vt:lpstr>PowerPoint Presentation</vt:lpstr>
      <vt:lpstr>Tool 1:- Multiple regression using python</vt:lpstr>
      <vt:lpstr>PowerPoint Presentation</vt:lpstr>
      <vt:lpstr>OUTPUT:- </vt:lpstr>
      <vt:lpstr>Tool 2:- Correlation using python:-   </vt:lpstr>
      <vt:lpstr>Output:-  </vt:lpstr>
      <vt:lpstr>Tool 3:- z-test two sample for means using excel:- </vt:lpstr>
      <vt:lpstr>OUTPUT:-  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 Ahilya Vishwavidhyalaya Indore        Project Presentation       School of Statistics    Name- Saloni Shandilya              M.sc 3rd sem </dc:title>
  <dc:creator>saloni shandilya</dc:creator>
  <cp:lastModifiedBy>saloni shandilya</cp:lastModifiedBy>
  <cp:revision>1</cp:revision>
  <dcterms:created xsi:type="dcterms:W3CDTF">2023-12-22T13:31:09Z</dcterms:created>
  <dcterms:modified xsi:type="dcterms:W3CDTF">2026-04-16T09:42:28Z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